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9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054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deck and introduce PS-21 as a low-cost autonomous rover proof-of-concept.
 Name the dual mission: monocular VIO SLAM plus a continuously updated 2D hazard grid.
 Call out the organizing constraint — everything runs inside ≤150 MB of RAM on Pi 4-class hardware.
 Frame the talk as a hardware + algorithmic pipeline review: chassis → compute → front-end → back-end → terrain.
 Set the tone: cheap parts, space-grade discipline, real autonomy.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why untethered matters — onboard power, compute, and sensing make this a real mission proxy.
 Explain the dual-output philosophy: VIO pose estimate plus a live 2D hazard grid are inseparable deliverables.
 Frame the 150 MB RAM ceiling as the organizing constraint — every design choice answers to it.
 Walk the four right-side stats as the proof-of-concept's operating envelope.
 Tee up the rest of the deck: hardware first, then algorithm, then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constraint-first mindset — every design decision answers to a number, not a preference.
 Walk the three pressure points in order: memory ceiling (RAM), compute footprint (CPU), and monocular scale ambiguity (sensor).
 Stress that the 200 Hz IMU is mandatory, not optional — without it, monocular VIO has no metric scale.
 Use the navy band as the takeaway: 150 MB is the constraint, not a target.
 Bridge to the rest of the deck: each pipeline stage is shaped by these three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hardware walk-through — chassis first, then the compute and sensing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Skid-steer geometry keeps the build mechanically simple and lets the rover turn on the spot.
- Slow 100 RPM Johnson motors keep inter-frame displacement small so VIO feature tracks stay stable.
- L293D dual-channel driver trades efficiency for wiring simplicity — direction + enable lines cover skid-steer.
- Untethered power is non-negotiable: compute, vision, and drive all share one onboard battery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cheap, swappable boards: a single-board failure doesn't collapse the autonomy stack.
- ESP32-CAM pulls double duty — monocular vision for VIO plus the Wi-Fi command/video link, no extra radio.
- Nano is flashed over the ESP32-CAM serial bridge as a deliberate workaround for the missing Mini-USB cable.
- MPU-6050 is mounted flat at the chassis geometric center so inertial readings reflect true body motion.
- Role split: ESP32-CAM = vision + comms, Nano = low-level control + IMU read, MPU-6050 = inertial cues.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Hall effect + neodymium magnets give reliable pulses even in dust, low texture, or motion blur.
- Only the front two wheels carry encoders — enough for skid-steer differential odometry at low cost.
- IMU sits flat at the chassis geometric center so inertial readings reflect true body motion, not deck flex.
- Role split: encoders are the safety net when VIO degrades; IMU is what makes monocular VIO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hardware to the ROS 2 software pipeline — front-end first, then the bounded-memory back-end, then terrain reconstruction.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CLAHE before detection neutralizes crater-rim contrast and deep shadows that would wreck feature stability.
- FAST chosen over ORB/SIFT for its low CPU cost — frees headroom for tracker + back-end on Pi 4.
- Pyramidal KLT survives larger inter-frame displacements on rough terrain without full redetection.
- Front-end stays under the RAM ceiling by remaining sparse: only a bounded keypoint set lives in memory.
- Entire front-end runs on the host under ROS 2 — no offboard processing, no GPU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Sliding window is non-negotiable: without it, the factor graph grows unbounded and 150 MB evaporates within minutes.
- Fill-in is the silent killer — dropping a keyframe naively makes the constraint matrix dense and blows the budget.
- Chow-Liu tree sparsification approximates the marginalization with a sparse tree, preserving the most informative pairwise dependencies.
- Takeaway: bounded memory is a property of the algorithm design, not a runtime hope or a tuning knob.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Delaunay before gridding because raw point clouds lack the local connectivity a hazard map needs.
- ZNCC protects against shadow edges, dust artifacts, and lighting-induced false features that would otherwise pollute the grid.
- Three hazard signals per cell — step height (h), slope (α), roughness (r) — cover the planning-relevant failure modes.
- The grid feeds downstream path planning, giving the planner a continuous "where not to drive"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Restate the three things PS-21 proves: VIO at the edge, hazard mapping in real time, commodity-parts construction.
- Walk the four next steps in order — drift testing, RAM benchmarking, planner integration, Wi-Fi hardening.
- Close by inviting questions on hardware, algorithm, or integration — flag that these are the three areas most likely to need follow-up.
- Emphasize that next steps are deliberately scoped to validate the proof-of-concept, not extend the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1399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69267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Guru Nanak Dev University</a:t>
            </a:r>
            <a:endParaRPr lang="en-US" sz="1600" i="1" dirty="0"/>
          </a:p>
        </p:txBody>
      </p:sp>
      <p:sp>
        <p:nvSpPr>
          <p:cNvPr id="6" name="Text 4"/>
          <p:cNvSpPr txBox="1"/>
          <p:nvPr/>
        </p:nvSpPr>
        <p:spPr>
          <a:xfrm>
            <a:off x="1847088" y="713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554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B08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PS-21</a:t>
            </a:r>
            <a:endParaRPr lang="en-US" sz="4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7241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/>
              <a:t>Low power slam for planetary Exploration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30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986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GURKIART SINGH (Team Lead) ▪ BHAWARDEEP SINGH ▪ DEV GROVER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1056" y="4216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spc="600" dirty="0">
                <a:latin typeface="Arial" pitchFamily="34" charset="0"/>
                <a:ea typeface="Arial" pitchFamily="34" charset="-122"/>
                <a:cs typeface="Arial" pitchFamily="34" charset="-120"/>
              </a:rPr>
              <a:t>BuildFest 2.0 </a:t>
            </a:r>
            <a:endParaRPr lang="en-US" sz="3200" b="1" i="1" spc="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BC874E-C901-4330-D908-1CC8F6ED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53" y="204014"/>
            <a:ext cx="1015912" cy="10112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36CBE9-3817-44FC-932F-4FB69EE29D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066"/>
          <a:stretch/>
        </p:blipFill>
        <p:spPr>
          <a:xfrm>
            <a:off x="7442247" y="140218"/>
            <a:ext cx="1090572" cy="105257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A39DB9-6021-2832-A8C8-D7CDCD11FB10}"/>
              </a:ext>
            </a:extLst>
          </p:cNvPr>
          <p:cNvCxnSpPr/>
          <p:nvPr/>
        </p:nvCxnSpPr>
        <p:spPr>
          <a:xfrm>
            <a:off x="0" y="1313993"/>
            <a:ext cx="9144000" cy="0"/>
          </a:xfrm>
          <a:prstGeom prst="line">
            <a:avLst/>
          </a:prstGeom>
          <a:ln w="12700" cap="flat" cmpd="dbl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B34B82E-B8C5-4691-7C22-CF975B6323B3}"/>
              </a:ext>
            </a:extLst>
          </p:cNvPr>
          <p:cNvSpPr txBox="1"/>
          <p:nvPr/>
        </p:nvSpPr>
        <p:spPr>
          <a:xfrm>
            <a:off x="590013" y="4292600"/>
            <a:ext cx="6725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Department of mechanical engineering</a:t>
            </a:r>
            <a:endParaRPr lang="en-B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514350"/>
            <a:ext cx="61271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62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PROJECT BRIEF ·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1042988"/>
            <a:ext cx="7043166" cy="715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5400" kern="0" spc="-162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14350" y="1785938"/>
            <a:ext cx="4814316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2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Low-Cost Autonomous Rover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2314575"/>
            <a:ext cx="38576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Proof-of-Concept for Visual-Inertial SLAM and 2D Hazard Mapping under Space-Grade Compute Constraints.</a:t>
            </a:r>
            <a:endParaRPr lang="en-US" sz="1013" dirty="0"/>
          </a:p>
        </p:txBody>
      </p:sp>
      <p:sp>
        <p:nvSpPr>
          <p:cNvPr id="6" name="Shape 4"/>
          <p:cNvSpPr/>
          <p:nvPr/>
        </p:nvSpPr>
        <p:spPr>
          <a:xfrm>
            <a:off x="514350" y="2878931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3045309"/>
            <a:ext cx="568709" cy="228029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604428" cy="284295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VIO SLAM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08075" y="3057525"/>
            <a:ext cx="881820" cy="215813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03003" y="3057525"/>
            <a:ext cx="820527" cy="284295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≤150 MB 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25614" y="3045309"/>
            <a:ext cx="568708" cy="228029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43473" y="3065502"/>
            <a:ext cx="2961308" cy="284295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ROS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4332015"/>
            <a:ext cx="4457700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kern="0" spc="44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Planetary Robotics Working Group · Internal Review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4350" y="4480582"/>
            <a:ext cx="4814316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kern="0" spc="44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</a:rPr>
              <a:t>Team name: Ternary Tensors</a:t>
            </a:r>
            <a:endParaRPr lang="en-US" sz="800" dirty="0"/>
          </a:p>
        </p:txBody>
      </p:sp>
      <p:pic>
        <p:nvPicPr>
          <p:cNvPr id="15" name="Image 0" descr="/tmp/h2p-fit-1792064846965-rgzl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79256" y="0"/>
            <a:ext cx="7144" cy="5143500"/>
          </a:xfrm>
          <a:prstGeom prst="rect">
            <a:avLst/>
          </a:prstGeom>
          <a:solidFill>
            <a:srgbClr val="D9D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2026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LOW-COST AUTONOMOUS ROVER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75097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MISSION PROFILE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992981"/>
            <a:ext cx="7143750" cy="69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untethered rover that maps terrain it cannot afford to forget.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768748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1975917"/>
            <a:ext cx="4463393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PS-21 is a budget-friendly, untethered mobile rover built to validate autonomous planetary exploration on commodity hardware. It carries its own power, compute, and sensing — no tether, no offboard processing — and is designed to demonstrate that real Visual-Inertial Odometry and hazard mapping can run inside the kind of computational envelope a real mission would impose.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14350" y="2961754"/>
            <a:ext cx="446339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proof-of-concept targets two simultaneous deliverables: a real-time monocular VIO estimate that resolves scale ambiguity using inertial cues, and a continuously updated top-down 2D hazard grid that flags terrain too rough or steep to traverse. Together they form the minimum viable autonomy stack for a low-cost planetary scout.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5324215" y="1979488"/>
            <a:ext cx="3644652" cy="2549649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142969" y="1983060"/>
            <a:ext cx="0" cy="1271253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7786" y="3250741"/>
            <a:ext cx="1818754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9236" y="2391817"/>
            <a:ext cx="146871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2138" kern="0" spc="-4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≤150 MB</a:t>
            </a:r>
            <a:endParaRPr lang="en-US" sz="2138" dirty="0"/>
          </a:p>
        </p:txBody>
      </p:sp>
      <p:sp>
        <p:nvSpPr>
          <p:cNvPr id="14" name="Text 12"/>
          <p:cNvSpPr/>
          <p:nvPr/>
        </p:nvSpPr>
        <p:spPr>
          <a:xfrm>
            <a:off x="5499236" y="2720429"/>
            <a:ext cx="14687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RAM BUDGET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46541" y="3250741"/>
            <a:ext cx="1818754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7991" y="2391817"/>
            <a:ext cx="1475854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2138" kern="0" spc="-4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 4</a:t>
            </a:r>
            <a:endParaRPr lang="en-US" sz="2138" dirty="0"/>
          </a:p>
        </p:txBody>
      </p:sp>
      <p:sp>
        <p:nvSpPr>
          <p:cNvPr id="17" name="Text 15"/>
          <p:cNvSpPr/>
          <p:nvPr/>
        </p:nvSpPr>
        <p:spPr>
          <a:xfrm>
            <a:off x="7317991" y="2720429"/>
            <a:ext cx="14758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TARGET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42969" y="3254313"/>
            <a:ext cx="0" cy="1271253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9236" y="3666641"/>
            <a:ext cx="146871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2138" kern="0" spc="-4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VIO + 2D</a:t>
            </a:r>
            <a:endParaRPr lang="en-US" sz="2138" dirty="0"/>
          </a:p>
        </p:txBody>
      </p:sp>
      <p:sp>
        <p:nvSpPr>
          <p:cNvPr id="20" name="Text 18"/>
          <p:cNvSpPr/>
          <p:nvPr/>
        </p:nvSpPr>
        <p:spPr>
          <a:xfrm>
            <a:off x="5499236" y="3995254"/>
            <a:ext cx="14687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OUTPUTS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7991" y="3666641"/>
            <a:ext cx="1647304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2138" kern="0" spc="-4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4WD</a:t>
            </a:r>
            <a:endParaRPr lang="en-US" sz="2138" dirty="0"/>
          </a:p>
        </p:txBody>
      </p:sp>
      <p:sp>
        <p:nvSpPr>
          <p:cNvPr id="22" name="Text 20"/>
          <p:cNvSpPr/>
          <p:nvPr/>
        </p:nvSpPr>
        <p:spPr>
          <a:xfrm>
            <a:off x="7317991" y="3995254"/>
            <a:ext cx="1647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350" y="4625578"/>
            <a:ext cx="799095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MISSION PROFILE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379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2026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LOW-COST AUTONOMOUS ROVER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46522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964406"/>
            <a:ext cx="862965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autonomy, simulated space-grade limits.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420155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922" y="1602321"/>
            <a:ext cx="2602669" cy="1733364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8656" y="1763055"/>
            <a:ext cx="257175" cy="2571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3659" y="178805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678656" y="2105955"/>
            <a:ext cx="2281200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 Ceiling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78656" y="2358777"/>
            <a:ext cx="2281200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hard ≤150 MB RAM cap on the host. Sliding-window optimization, keyframe marginalization, and Chow-Liu sparsification all exist to keep the factor graph inside this envelope — not as an optimization luxury.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3270610" y="1602321"/>
            <a:ext cx="2602669" cy="1733364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31344" y="1763055"/>
            <a:ext cx="257175" cy="2571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56347" y="178805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3431344" y="2105955"/>
            <a:ext cx="2281200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Footprint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3431344" y="2358777"/>
            <a:ext cx="2281200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Raspberry Pi 4-class CPU is the reference target. Front-end feature extraction and optical flow must run cheaply enough to leave headroom for back-end optimization and the hazard pipeline.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6023297" y="1602321"/>
            <a:ext cx="2602781" cy="1733364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84032" y="1763055"/>
            <a:ext cx="257175" cy="257175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09035" y="178805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406" dirty="0"/>
          </a:p>
        </p:txBody>
      </p:sp>
      <p:sp>
        <p:nvSpPr>
          <p:cNvPr id="21" name="Text 19"/>
          <p:cNvSpPr/>
          <p:nvPr/>
        </p:nvSpPr>
        <p:spPr>
          <a:xfrm>
            <a:off x="6184032" y="2105955"/>
            <a:ext cx="2391040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Monocular Scale Ambiguity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184032" y="2358777"/>
            <a:ext cx="2281312" cy="71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single camera cannot recover metric scale. The 200 Hz IMU is not optional — it is the only way to resolve scale and keep VIO trajectories physically meaningful on rough terrain.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514350" y="3510707"/>
            <a:ext cx="8115300" cy="84073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2950" y="3710732"/>
            <a:ext cx="7658100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7" dirty="0">
                <a:solidFill>
                  <a:srgbClr val="F7F5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algorithmic choice is downstream of one number.</a:t>
            </a:r>
            <a:endParaRPr lang="en-US" sz="1463" dirty="0"/>
          </a:p>
        </p:txBody>
      </p:sp>
      <p:sp>
        <p:nvSpPr>
          <p:cNvPr id="25" name="Text 23"/>
          <p:cNvSpPr/>
          <p:nvPr/>
        </p:nvSpPr>
        <p:spPr>
          <a:xfrm>
            <a:off x="742950" y="3990677"/>
            <a:ext cx="76581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150 MB of RAM is not a target — it is the constraint that shapes the front-end, the back-end, and the terrain pipeline alike.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625578"/>
            <a:ext cx="799095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CONSTRAINTS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379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62385"/>
            <a:ext cx="73548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57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85800" y="2048135"/>
            <a:ext cx="4572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255304"/>
            <a:ext cx="4960347" cy="58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3"/>
              </a:lnSpc>
              <a:buNone/>
            </a:pPr>
            <a:r>
              <a:rPr lang="en-US" sz="4050" kern="0" spc="-8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Architecture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85800" y="2966777"/>
            <a:ext cx="4572000" cy="44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125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Chassis, actuation, and the onboard compute + sensing stack that PS-21 carries into the field.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700963" y="857250"/>
            <a:ext cx="14288" cy="34290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17318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HARDWARE ARCHITECTURE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03659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CHASSIS &amp; ACTUATION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921544"/>
            <a:ext cx="6572250" cy="69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rugged 4WD platform built around commodity drive components.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697310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1865188"/>
            <a:ext cx="4706838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1968773"/>
            <a:ext cx="228600" cy="2286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424" y="19898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828675" y="1999469"/>
            <a:ext cx="4392513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4-Wheel Drive Chassis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14350" y="2240235"/>
            <a:ext cx="4706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Rugged skid-steer platform with four driven wheels, sized for indoor and outdoor prototype terrain. Geometry tuned for stable monocular capture while crossing small obstacles.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4350" y="2643857"/>
            <a:ext cx="4706838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2747442"/>
            <a:ext cx="228600" cy="2286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5424" y="276851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828675" y="2778137"/>
            <a:ext cx="4392513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 RPM Johnson Motors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514350" y="3018904"/>
            <a:ext cx="4706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Geared Johnson DC motors at each wheel. Torque and speed balanced for slow, controlled traversal — the regime where VIO feature tracks stay stable across frames.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4350" y="3422526"/>
            <a:ext cx="4706838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350" y="3526110"/>
            <a:ext cx="228600" cy="2286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5424" y="35471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828675" y="3556806"/>
            <a:ext cx="4392513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Dual-Channel Motor Driver (L293D)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514350" y="3797573"/>
            <a:ext cx="4706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L293D-class driver routes PWM from the Arduino Nano to the motor pairs. Direction and enable lines give skid-steer differential control with minimal wiring overhead.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4350" y="4201195"/>
            <a:ext cx="4706838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350" y="4304779"/>
            <a:ext cx="228600" cy="22860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5424" y="43258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828675" y="4335475"/>
            <a:ext cx="4392513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Untethered Power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514350" y="4576242"/>
            <a:ext cx="4706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Onboard battery supply — no tether, no external rail. Power budget sized to keep compute, vision, and drive all running for a full mission-length traversal.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1935" y="1865188"/>
            <a:ext cx="3401206" cy="2666851"/>
          </a:xfrm>
          <a:prstGeom prst="rect">
            <a:avLst/>
          </a:prstGeom>
          <a:noFill/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0" descr="/tmp/h2p-fit-1792064852714-nxrfeu.png"/>
          <p:cNvPicPr>
            <a:picLocks noChangeAspect="1"/>
          </p:cNvPicPr>
          <p:nvPr/>
        </p:nvPicPr>
        <p:blipFill>
          <a:blip r:embed="rId3"/>
          <a:srcRect l="1" r="-421" b="5192"/>
          <a:stretch>
            <a:fillRect/>
          </a:stretch>
        </p:blipFill>
        <p:spPr>
          <a:xfrm>
            <a:off x="5485507" y="1957459"/>
            <a:ext cx="3408350" cy="2521601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78363" y="4607049"/>
            <a:ext cx="3408350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Reference: 4WD robotic chassis with knobby tires and perforated deck — PS-21 uses an analogous prototype platform.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2425" y="4974952"/>
            <a:ext cx="799095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HARDWARE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503379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17318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HARDWARE ARCHITECTURE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03659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&amp; VISION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921544"/>
            <a:ext cx="862965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devices, one onboard pipeline.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377293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1498736"/>
            <a:ext cx="5429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PS-21 splits perception, low-level control, and wireless bridging across three cheap, swappable modules — each chosen so the failure of one does not collapse the rest.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17922" y="2005943"/>
            <a:ext cx="2602669" cy="2523195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5796" y="2154461"/>
            <a:ext cx="1052542" cy="228029"/>
          </a:xfrm>
          <a:prstGeom prst="rect">
            <a:avLst/>
          </a:prstGeom>
          <a:solidFill>
            <a:srgbClr val="FFFFFF"/>
          </a:solidFill>
          <a:ln w="7144">
            <a:solidFill>
              <a:srgbClr val="C9A22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2166677"/>
            <a:ext cx="1006822" cy="261890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 + WIRELESS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678656" y="245599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021556" y="2500982"/>
            <a:ext cx="1938300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ESP32-CAM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678656" y="2798899"/>
            <a:ext cx="239092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OV2640 monocular sensor · Wi-Fi bridge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8656" y="3019239"/>
            <a:ext cx="2281200" cy="8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Dual-purpose module. The OV2640 sensor captures monocular frames for the VIO front-end, while the ESP32's Wi-Fi radio streams the video feed to the host laptop and receives movement commands — eliminating a separate wireless link.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8656" y="4150519"/>
            <a:ext cx="2281200" cy="0"/>
          </a:xfrm>
          <a:prstGeom prst="line">
            <a:avLst/>
          </a:prstGeom>
          <a:noFill/>
          <a:ln w="7144">
            <a:solidFill>
              <a:srgbClr val="ECE7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656" y="4146947"/>
            <a:ext cx="2281200" cy="221456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81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ROLES · 1 BOARD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70610" y="2005943"/>
            <a:ext cx="2602669" cy="2523195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8484" y="2154461"/>
            <a:ext cx="1107571" cy="228029"/>
          </a:xfrm>
          <a:prstGeom prst="rect">
            <a:avLst/>
          </a:prstGeom>
          <a:solidFill>
            <a:srgbClr val="FFFFFF"/>
          </a:solidFill>
          <a:ln w="7144">
            <a:solidFill>
              <a:srgbClr val="C9A22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31344" y="2166677"/>
            <a:ext cx="1061851" cy="261890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LOW-LEVEL CONTROL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3431344" y="245599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3774244" y="2500982"/>
            <a:ext cx="1938300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Arduino Nano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3431344" y="2798899"/>
            <a:ext cx="239092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slave · IMU reader · PWM driver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31344" y="3019239"/>
            <a:ext cx="2281200" cy="8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Reads high-frequency IMU samples over I2C and drives motor PWM outputs. Programmed via the ESP32-CAM serial bridge as a workaround for the missing Mini-USB cable — a deliberate bootstrapping hack to keep the build moving.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31344" y="4150519"/>
            <a:ext cx="2281200" cy="0"/>
          </a:xfrm>
          <a:prstGeom prst="line">
            <a:avLst/>
          </a:prstGeom>
          <a:noFill/>
          <a:ln w="7144">
            <a:solidFill>
              <a:srgbClr val="ECE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1344" y="4146947"/>
            <a:ext cx="2281200" cy="221456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81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 HZ IMU READ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23297" y="2005943"/>
            <a:ext cx="2602781" cy="2523195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61172" y="2154461"/>
            <a:ext cx="1002313" cy="228029"/>
          </a:xfrm>
          <a:prstGeom prst="rect">
            <a:avLst/>
          </a:prstGeom>
          <a:solidFill>
            <a:srgbClr val="FFFFFF"/>
          </a:solidFill>
          <a:ln w="7144">
            <a:solidFill>
              <a:srgbClr val="C9A22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84032" y="2166677"/>
            <a:ext cx="956593" cy="261890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INERTIAL SENSING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6184032" y="245599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526932" y="2500982"/>
            <a:ext cx="1938412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MPU-6050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6184032" y="2798899"/>
            <a:ext cx="239104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6-axis IMU · I2C · chassis-center mount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84032" y="3019239"/>
            <a:ext cx="2281312" cy="8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6-axis MEMS IMU mounted flat at the exact geometric center of the chassis deck. Samples motion at 200 Hz, feeding the back-end with the inertial cues needed to resolve monocular scale ambiguity on rough terrain.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84032" y="4150519"/>
            <a:ext cx="2281312" cy="0"/>
          </a:xfrm>
          <a:prstGeom prst="line">
            <a:avLst/>
          </a:prstGeom>
          <a:noFill/>
          <a:ln w="7144">
            <a:solidFill>
              <a:srgbClr val="ECE7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4032" y="4146947"/>
            <a:ext cx="2281312" cy="221456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81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6-AXIS · 200 HZ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16" y="4781598"/>
            <a:ext cx="799095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COMPUTE STACK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379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17318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HARDWARE ARCHITECTURE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03659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ODOMETRY &amp; INERTIAL SENSING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921544"/>
            <a:ext cx="7700963" cy="69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Wheel encoders and a 200 Hz IMU back the visual estimate.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697310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1890192"/>
            <a:ext cx="5057685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WHEEL ODOMETRY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2120131"/>
            <a:ext cx="57150" cy="57150"/>
          </a:xfrm>
          <a:prstGeom prst="roundRect">
            <a:avLst>
              <a:gd name="adj" fmla="val 6666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8433" y="2065213"/>
            <a:ext cx="4710410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Wheel Encoders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14350" y="2332323"/>
            <a:ext cx="3768328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encoders on the front two wheels pair Hall effect sensors with neodymium magnets to deliver reliable odometric pulses even when vision struggles — dust, low texture, or motion blur.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514350" y="2975260"/>
            <a:ext cx="3768328" cy="715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2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Sensing: Hall effect + neodymium magnets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2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Mounting: front two wheels only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2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Role: backup odometry when VIO degrades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3739642"/>
            <a:ext cx="3768328" cy="3036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5066" y="3739642"/>
            <a:ext cx="0" cy="303609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350" y="3739642"/>
            <a:ext cx="3768328" cy="327898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Odometry is the safety net — not the primary estimate.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4568428" y="1890192"/>
            <a:ext cx="7144" cy="2642518"/>
          </a:xfrm>
          <a:prstGeom prst="rect">
            <a:avLst/>
          </a:prstGeom>
          <a:solidFill>
            <a:srgbClr val="D9D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61322" y="1890192"/>
            <a:ext cx="428267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INERTIAL SENSING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1322" y="2120131"/>
            <a:ext cx="57150" cy="57150"/>
          </a:xfrm>
          <a:prstGeom prst="roundRect">
            <a:avLst>
              <a:gd name="adj" fmla="val 6666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087048"/>
            <a:ext cx="4282678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MPU-6050 IMU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4861322" y="2332323"/>
            <a:ext cx="3768328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6-axis MEMS IMU is mounted flat at the exact geometric center of the chassis deck and sampled at 200 Hz by the Arduino Nano. High-frequency inertial cues feed the back-end to resolve the scale ambiguity inherent to monocular VIO.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861322" y="2975260"/>
            <a:ext cx="3768328" cy="715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2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4A58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Axes: 6 (3 accel + 3 gyro)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2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4A58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Sample rate: 200 Hz over I2C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2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Mount: chassis-center, flat orientation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61322" y="3739642"/>
            <a:ext cx="3768328" cy="3036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72038" y="3739642"/>
            <a:ext cx="0" cy="303609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1322" y="3739642"/>
            <a:ext cx="3768328" cy="327898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Inertial cues are what make monocular SLAM metric, not just geometric.</a:t>
            </a:r>
            <a:endParaRPr lang="en-US" sz="844" dirty="0"/>
          </a:p>
        </p:txBody>
      </p:sp>
      <p:sp>
        <p:nvSpPr>
          <p:cNvPr id="25" name="Shape 23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350" y="4625578"/>
            <a:ext cx="799095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ODOMETRY &amp; IMU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379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61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62385"/>
            <a:ext cx="73404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57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5800" y="2083854"/>
            <a:ext cx="457200" cy="14288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269592"/>
            <a:ext cx="4950619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3"/>
              </a:lnSpc>
              <a:buNone/>
            </a:pPr>
            <a:r>
              <a:rPr lang="en-US" sz="4050" kern="0" spc="-8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Algorithmic Pipeline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85800" y="2981065"/>
            <a:ext cx="4714875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Front-end perception, bounded-memory back-end optimization, and terrain reconstruction under the 150 MB ceiling.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700963" y="857250"/>
            <a:ext cx="14288" cy="34290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15629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ALGORITHMIC PIPELINE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17947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FRONT-END · VISION PREPROCESSING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921544"/>
            <a:ext cx="862965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raw frame to trackable keypoints — cheaply.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363005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1484449"/>
            <a:ext cx="5715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front-end runs entirely on the host (ROS 2). It converts each monocular frame to a robust, sparse set of tracked features while staying inside the CPU and RAM budget that the back-end depends on.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17922" y="2020230"/>
            <a:ext cx="2431219" cy="1967099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2180965"/>
            <a:ext cx="21097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95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8656" y="2388133"/>
            <a:ext cx="2109750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Grayscale + CLAHE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78656" y="2640955"/>
            <a:ext cx="2109750" cy="90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Frames are converted to grayscale and enhanced with Contrast Limited Adaptive Histogram Equalization. CLAHE tames the extreme lighting, deep shadows, and crater-rim contrast that would otherwise destroy feature stability across frames.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8656" y="3574107"/>
            <a:ext cx="210975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656" y="3691979"/>
            <a:ext cx="2219478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kern="0" spc="88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OUTPUT: ENHANCED GRAYSCALE FRAME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67013" y="291799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56335" y="2020230"/>
            <a:ext cx="2431331" cy="1967099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17069" y="2180965"/>
            <a:ext cx="21098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95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7069" y="2388133"/>
            <a:ext cx="2109862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 Keypoint Detection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3517069" y="2640955"/>
            <a:ext cx="2109862" cy="90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Lightweight FAST corner detector pulls sparse keypoints from the enhanced frame. FAST is chosen for its low CPU cost — leaving headroom for the optical-flow tracker and the back-end optimizer that share the same Pi 4-class host.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17069" y="3574107"/>
            <a:ext cx="2109862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7069" y="3691979"/>
            <a:ext cx="2219590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kern="0" spc="88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OUTPUT: SPARSE KEYPOINT SET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05537" y="291799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94859" y="2020230"/>
            <a:ext cx="2431219" cy="1967099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5593" y="2180965"/>
            <a:ext cx="21097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95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5593" y="2388133"/>
            <a:ext cx="2109750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Pyramidal KLT Tracking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6355593" y="2640955"/>
            <a:ext cx="2109750" cy="8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Keypoints are tracked across frames using pyramidal Lucas-Kanade optical flow. The pyramid lets tracks survive larger inter-frame displacements on rough terrain without forcing a full redetection on every frame.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55593" y="3574107"/>
            <a:ext cx="210975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593" y="3691979"/>
            <a:ext cx="2219478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kern="0" spc="88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OUTPUT: FEATURE TRACKS FOR VIO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625578"/>
            <a:ext cx="800669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FRONT-END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11248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6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066" y="515684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7964" y="484672"/>
            <a:ext cx="15629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ALGORITHMIC PIPELINE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17947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BACK-END · BOUNDED-MEMORY OPTIMIZATION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921544"/>
            <a:ext cx="862965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sliding-window factor graph that refuses to grow.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363005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1625092"/>
            <a:ext cx="57150" cy="57150"/>
          </a:xfrm>
          <a:prstGeom prst="roundRect">
            <a:avLst>
              <a:gd name="adj" fmla="val 6666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0081" y="1570174"/>
            <a:ext cx="4100655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Sliding-Window Factor Graph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14350" y="1822996"/>
            <a:ext cx="3796903" cy="8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Historical pose optimization is capped by a sliding-window factor graph. Only a bounded set of recent keyframes and their constraints are kept live in the optimization; older keyframes are marginalized out. This guarantees the back-end's working set — and therefore its RAM footprint — cannot grow without bound over a long traversal.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4350" y="2711946"/>
            <a:ext cx="3796903" cy="4938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4350" y="2715518"/>
            <a:ext cx="3796903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681" y="2711946"/>
            <a:ext cx="0" cy="493812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350" y="3202186"/>
            <a:ext cx="3796903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066" y="2711946"/>
            <a:ext cx="0" cy="493812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081" y="2819102"/>
            <a:ext cx="3539728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pose optimization stays strictly under the 150 MB RAM ceiling, regardless of mission length.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68428" y="1570174"/>
            <a:ext cx="7144" cy="1635584"/>
          </a:xfrm>
          <a:prstGeom prst="rect">
            <a:avLst/>
          </a:prstGeom>
          <a:solidFill>
            <a:srgbClr val="D9D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2747" y="1625092"/>
            <a:ext cx="57150" cy="57150"/>
          </a:xfrm>
          <a:prstGeom prst="roundRect">
            <a:avLst>
              <a:gd name="adj" fmla="val 6666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7800" y="1570174"/>
            <a:ext cx="4100655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Chow-Liu Tree Sparsification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4832747" y="1822996"/>
            <a:ext cx="3796903" cy="8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Naive keyframe marginalization causes dense matrix fill-in: dropping one keyframe can blow up the constraint matrix and silently exceed the RAM budget. Chow-Liu tree factor sparsification approximates the marginalization with a sparse tree-structured replacement, preserving the most informative pairwise dependencies and discarding the rest.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32747" y="2711946"/>
            <a:ext cx="3796903" cy="35406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32747" y="2715518"/>
            <a:ext cx="3796903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26078" y="2711946"/>
            <a:ext cx="0" cy="354062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2747" y="3062436"/>
            <a:ext cx="3796903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3463" y="2711946"/>
            <a:ext cx="0" cy="354062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8478" y="2819102"/>
            <a:ext cx="3539728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marginalization stays sparse — no fill-in, no silent RAM blow-up.</a:t>
            </a:r>
            <a:endParaRPr lang="en-US" sz="759" dirty="0"/>
          </a:p>
        </p:txBody>
      </p:sp>
      <p:sp>
        <p:nvSpPr>
          <p:cNvPr id="27" name="Text 25"/>
          <p:cNvSpPr/>
          <p:nvPr/>
        </p:nvSpPr>
        <p:spPr>
          <a:xfrm>
            <a:off x="514350" y="3405783"/>
            <a:ext cx="8115300" cy="717947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4375" y="3562945"/>
            <a:ext cx="29930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F7F5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150 MB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4375" y="3848695"/>
            <a:ext cx="3029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RAM CEILING (HARD)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24175" y="3593306"/>
            <a:ext cx="7144" cy="3429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02769" y="3562945"/>
            <a:ext cx="299323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F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SLIDING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02769" y="3848695"/>
            <a:ext cx="303006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WINDOW POLICY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12681" y="3593306"/>
            <a:ext cx="7144" cy="3429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91275" y="3562945"/>
            <a:ext cx="233835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36" dirty="0">
                <a:solidFill>
                  <a:srgbClr val="F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CHOW-LIU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91275" y="3848695"/>
            <a:ext cx="23383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SPARSIFICATION METHOD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350" y="4625578"/>
            <a:ext cx="800669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BACK-END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11248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61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15629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ALGORITHMIC PIPELINE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60797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TERRAIN RECONSTRUCTION &amp; HAZARD GRID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35819"/>
            <a:ext cx="8629650" cy="29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2"/>
              </a:lnSpc>
              <a:buNone/>
            </a:pPr>
            <a:r>
              <a:rPr lang="en-US" sz="1913" kern="0" spc="-2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Sparse features become a top-down map of where not to drive.</a:t>
            </a:r>
            <a:endParaRPr lang="en-US" sz="1913" dirty="0"/>
          </a:p>
        </p:txBody>
      </p:sp>
      <p:sp>
        <p:nvSpPr>
          <p:cNvPr id="7" name="Shape 5"/>
          <p:cNvSpPr/>
          <p:nvPr/>
        </p:nvSpPr>
        <p:spPr>
          <a:xfrm>
            <a:off x="514350" y="1200708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1325724"/>
            <a:ext cx="4706838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1415021"/>
            <a:ext cx="470683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1582899"/>
            <a:ext cx="4816566" cy="158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956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2D Delaunay Triangulation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14350" y="1769306"/>
            <a:ext cx="470683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Sparse feature points are synthesized into a 2D Delaunay triangulation. The triangulation is the geometric scaffold that turns isolated point detections into a continuous, locally-connected terrain mesh.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350" y="2113545"/>
            <a:ext cx="4706838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" y="2202842"/>
            <a:ext cx="470683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4350" y="2370720"/>
            <a:ext cx="4816566" cy="158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95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ZNCC Photometric Filtering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14350" y="2557128"/>
            <a:ext cx="470683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Triangle faces are filtered using Zero-mean Normalized Cross-Correlation photometric consistency. ZNCC rejects shadow edges, dust artifacts, and lighting-induced false features before they pollute the hazard grid.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4350" y="2901367"/>
            <a:ext cx="4706838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" y="2990664"/>
            <a:ext cx="470683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4350" y="3158542"/>
            <a:ext cx="4706838" cy="158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956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Top-Down Hazard Grid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514350" y="3344949"/>
            <a:ext cx="470683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Surviving triangles are projected into a top-down 2D hazard grid. Each cell tracks three quantities: step height (h), slope (α), and roughness (r) — the three signals a planner needs to decide where the rover can safely go next.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53360" y="1325724"/>
            <a:ext cx="3172718" cy="1950690"/>
          </a:xfrm>
          <a:prstGeom prst="rect">
            <a:avLst/>
          </a:prstGeom>
          <a:noFill/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0" descr="/tmp/h2p-fit-1792064853559-qeb0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32" y="1329296"/>
            <a:ext cx="3165574" cy="194354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49788" y="3365711"/>
            <a:ext cx="3179862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8A93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Reference: aerial view of cratered planetary terrain — analogous to the top-down hazard grid PS-21 produces.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1500" y="3792494"/>
            <a:ext cx="811788" cy="200025"/>
          </a:xfrm>
          <a:prstGeom prst="rect">
            <a:avLst/>
          </a:prstGeom>
          <a:solidFill>
            <a:srgbClr val="FFFFFF"/>
          </a:solidFill>
          <a:ln w="7144">
            <a:solidFill>
              <a:srgbClr val="C9A227"/>
            </a:solidFill>
            <a:prstDash val="solid"/>
          </a:ln>
        </p:spPr>
        <p:txBody>
          <a:bodyPr wrap="square" rtlCol="0" anchor="ctr"/>
          <a:lstStyle/>
          <a:p>
            <a:pPr>
              <a:lnSpc>
                <a:spcPts val="844"/>
              </a:lnSpc>
            </a:pP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2893" y="3771051"/>
            <a:ext cx="816843" cy="274320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marL="0" indent="0" algn="l">
              <a:lnSpc>
                <a:spcPts val="844"/>
              </a:lnSpc>
              <a:buNone/>
            </a:pP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487809" y="3786389"/>
            <a:ext cx="523615" cy="200025"/>
          </a:xfrm>
          <a:prstGeom prst="rect">
            <a:avLst/>
          </a:prstGeom>
          <a:solidFill>
            <a:srgbClr val="FFFFFF"/>
          </a:solidFill>
          <a:ln w="7144">
            <a:solidFill>
              <a:srgbClr val="C9A22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458491" y="3818401"/>
            <a:ext cx="582249" cy="274320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Α · SLOPE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146030" y="3786388"/>
            <a:ext cx="776603" cy="200025"/>
          </a:xfrm>
          <a:prstGeom prst="rect">
            <a:avLst/>
          </a:prstGeom>
          <a:solidFill>
            <a:srgbClr val="FFFFFF"/>
          </a:solidFill>
          <a:ln w="7144">
            <a:solidFill>
              <a:srgbClr val="C9A22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115945" y="3803618"/>
            <a:ext cx="6667686" cy="274320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 · ROUGHNESS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14350" y="4041028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893" y="4212665"/>
            <a:ext cx="800669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TERRAIN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11248" y="4014229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619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256733-06D9-DE27-4B02-71BD89381991}"/>
              </a:ext>
            </a:extLst>
          </p:cNvPr>
          <p:cNvSpPr txBox="1"/>
          <p:nvPr/>
        </p:nvSpPr>
        <p:spPr>
          <a:xfrm>
            <a:off x="502893" y="3796119"/>
            <a:ext cx="1089837" cy="19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44"/>
              </a:lnSpc>
            </a:pPr>
            <a:r>
              <a:rPr lang="en-US" sz="800" kern="0" spc="68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H.STEPHEIGHT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30411"/>
            <a:ext cx="57150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2938" y="400050"/>
            <a:ext cx="2026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LOW-COST AUTONOMOUS ROVER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310418" y="400050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89372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92969"/>
            <a:ext cx="862965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250" kern="0" spc="-3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bounded-memory autonomy stack, built from cheap parts.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4350" y="1334430"/>
            <a:ext cx="3429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1513024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WHAT PS-21 PROVES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7922" y="1720193"/>
            <a:ext cx="2612157" cy="1235087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369" y="1852352"/>
            <a:ext cx="242888" cy="2428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2228" y="187021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664369" y="2180965"/>
            <a:ext cx="2319263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VIO at the Edge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664369" y="2405211"/>
            <a:ext cx="231926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Monocular VIO with inertial scale resolution can run on Pi 4-class hardware inside 150 MB of RAM — no GPU, no offboard compute, no tether.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65810" y="1720193"/>
            <a:ext cx="2612268" cy="1235087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12257" y="1852352"/>
            <a:ext cx="242888" cy="2428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30116" y="187021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3412257" y="2180965"/>
            <a:ext cx="2429103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Hazard Mapping in Real Time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3412257" y="2405211"/>
            <a:ext cx="231937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Sparse features → Delaunay → ZNCC filter → 2D hazard grid produces a continuously updated top-down map of step height, slope, and roughness.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3810" y="1720193"/>
            <a:ext cx="2612157" cy="1235087"/>
          </a:xfrm>
          <a:prstGeom prst="rect">
            <a:avLst/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60257" y="1852352"/>
            <a:ext cx="242888" cy="2428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78116" y="187021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7F5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6160257" y="2180965"/>
            <a:ext cx="2428991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from Commodity Parts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6160257" y="2405211"/>
            <a:ext cx="231926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4A58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ESP32-CAM, Arduino Nano, MPU-6050, L293D, Johnson motors — every component is cheap and swappable, by design.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350" y="3130302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8C6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3333899"/>
            <a:ext cx="8115300" cy="87243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2950" y="3505349"/>
            <a:ext cx="26431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81" dirty="0">
                <a:solidFill>
                  <a:srgbClr val="C9A2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742950" y="3755380"/>
            <a:ext cx="1651992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Field-test VIO drift on extended outdoor traversals.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66392" y="3577233"/>
            <a:ext cx="7144" cy="385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744986" y="3505349"/>
            <a:ext cx="26431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81" dirty="0">
                <a:solidFill>
                  <a:srgbClr val="C9A2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2744986" y="3755380"/>
            <a:ext cx="1651992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Benchmark RAM footprint under sustained 30+ minute runs.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68428" y="3577233"/>
            <a:ext cx="7144" cy="385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7022" y="3505349"/>
            <a:ext cx="26431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81" dirty="0">
                <a:solidFill>
                  <a:srgbClr val="C9A2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4747022" y="3755380"/>
            <a:ext cx="1651992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hazard grid with a downstream path planner.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70464" y="3577233"/>
            <a:ext cx="7144" cy="385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49058" y="3505349"/>
            <a:ext cx="165199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81" dirty="0">
                <a:solidFill>
                  <a:srgbClr val="C9A2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749058" y="3755380"/>
            <a:ext cx="1651992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F7F5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Harden ESP32-CAM Wi-Fi link against dropouts.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350" y="4625578"/>
            <a:ext cx="800669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PS-21 · SUMMARY &amp; NEXT STEPS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11248" y="4625578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62" dirty="0">
                <a:solidFill>
                  <a:srgbClr val="8A93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1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BDB45-69C7-96FD-BF50-8E272CC3B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1550" y="-428626"/>
            <a:ext cx="10363200" cy="579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5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2692</Words>
  <Application>Microsoft Office PowerPoint</Application>
  <PresentationFormat>On-screen Show (16:9)</PresentationFormat>
  <Paragraphs>227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DESKTOP</cp:lastModifiedBy>
  <cp:revision>5</cp:revision>
  <dcterms:created xsi:type="dcterms:W3CDTF">2026-10-15T11:47:33Z</dcterms:created>
  <dcterms:modified xsi:type="dcterms:W3CDTF">2026-10-15T12:18:37Z</dcterms:modified>
</cp:coreProperties>
</file>